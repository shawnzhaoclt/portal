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AEC2-1F88-CD10-D7C8-61185C4BD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A3528-988C-8A6B-E5E3-559BC5D0C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2660-C769-9C2C-213E-AF6A513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A3277-A170-F724-5DDD-37343578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949E8-9A1F-0D30-1CD0-57834C05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9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7A4B-68E8-DF4E-FA21-034B4B0C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DE76A-0C52-2251-8428-02DB6A1E7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46BF1-876B-5C3D-19B7-8A49E19F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74972-B555-28FF-497A-0E80C64A9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2ACAA-B192-A16F-C087-FEB45B0D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3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BC72-6754-5EEC-5EEC-201B2E43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B6ACA-3DE3-E9BE-CF82-35D8CE79D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A524C-5BA9-CB1D-FBA3-A5BA2687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B17D9-BDD9-BAAD-4E28-04CA5148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EE27B-DF7D-9515-2F04-CF1C23B8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55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63E36-5CB7-320B-B44E-BDC327953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D397C-CE5F-64E5-7DB7-B3C0490B9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1E669-9A25-A955-5176-9A8881070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77F9A-6F17-4D88-CEF3-8E0E8136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0C4B7-D74D-EBBE-8581-8F0965E3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80E1A-68E9-F5A9-45E7-DF9926FB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1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A7C8-32EE-B586-A042-4EC448AF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4900-6AAC-911C-C849-66DF2A9F1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47EC8-F76D-5450-5BE3-8075573D3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0714E-85F4-F4EC-4E5C-061710A72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5E0C9-4176-FE14-CF96-1A46F6338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43449-6EFA-C48E-691B-B050EC0D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3F713-6AF4-CF42-A6FB-9EAF02D3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04C760-1740-6B65-CF37-5F7D4E4E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5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FBFB-624B-16B8-8FC2-C25E0618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407C3-4863-7A7F-B33D-41B07746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57DF9-7542-816E-3C87-C2A5E213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5E898-AA7E-D619-EE4F-966A32D3C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6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5C08B-240A-E4B7-6E0A-84EDE2EF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E97AA-CFF5-273C-5EB5-DBF237B1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39591-AD73-3D2C-BB62-335063BD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3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3855-C345-ABAC-4BD6-1D90B44C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8A696-5447-34F9-4EBB-98A74CF43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DEC45-79FB-39B3-6B8E-E8A8CD071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042FE-E368-D82A-6C77-BAD681C2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16C3E-4792-EA79-DB4A-334FEB07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9B9E7-97B7-A6B3-8E42-2F35CDD8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1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B3A1-613E-DF13-854C-DC928249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FF3EF-FD3E-BEA4-E188-5632FE3D09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A9F5A-4E14-90D1-97BE-8E33B9D53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F46D4-371B-BD67-C5EF-515B5388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79AAA-66DA-CA8D-3B53-23F270A76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5232C-6B68-A050-A273-2A6C9E29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2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957B-CFD1-F397-9890-001D50A6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0F85A-4B57-CBB3-64FE-7C0164CE1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7B586-FE15-1F7F-61D0-540C6AC1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DA277-75C0-73AD-FBEE-56F99A30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1B9B2-9800-78DB-33CC-182717D0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1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522AFA-806C-F8F3-A7AA-CD43333CB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D273D-17D9-4630-9699-72901DE59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07004-4374-39D4-1472-630C05EA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D6435-7F34-58BF-EEB2-8DECAA62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3AA0D-8A91-EE22-0DE2-2D502AE4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3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66371-4C43-6921-B5EE-24BCD76A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55F8B-D8E8-EBB5-9B56-73151A78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73C15-DC2E-D76D-1EB8-4E5CC0FB4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2F41C-5E3A-433E-A827-3C0B6728131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6079A-FDC3-FEA8-5ACD-5777AB0F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9A74C-705A-8164-3B20-B2136626C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B7D72-1F23-4311-82C4-081384004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6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101528-4F89-38D6-BB24-4ABFC341455D}"/>
              </a:ext>
            </a:extLst>
          </p:cNvPr>
          <p:cNvSpPr/>
          <p:nvPr/>
        </p:nvSpPr>
        <p:spPr>
          <a:xfrm>
            <a:off x="6789750" y="1328850"/>
            <a:ext cx="4938370" cy="5269013"/>
          </a:xfrm>
          <a:prstGeom prst="roundRect">
            <a:avLst>
              <a:gd name="adj" fmla="val 1448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4E03B7-30BF-008B-329A-98730E6F47A9}"/>
              </a:ext>
            </a:extLst>
          </p:cNvPr>
          <p:cNvSpPr/>
          <p:nvPr/>
        </p:nvSpPr>
        <p:spPr>
          <a:xfrm>
            <a:off x="1674466" y="3514503"/>
            <a:ext cx="4836160" cy="3129186"/>
          </a:xfrm>
          <a:prstGeom prst="roundRect">
            <a:avLst>
              <a:gd name="adj" fmla="val 3582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93A45A-3455-B1AD-78FB-31F2EDCACD83}"/>
              </a:ext>
            </a:extLst>
          </p:cNvPr>
          <p:cNvSpPr/>
          <p:nvPr/>
        </p:nvSpPr>
        <p:spPr>
          <a:xfrm>
            <a:off x="1674466" y="1305699"/>
            <a:ext cx="4836160" cy="2047819"/>
          </a:xfrm>
          <a:prstGeom prst="roundRect">
            <a:avLst>
              <a:gd name="adj" fmla="val 3582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0D196-103F-A8C2-6B6A-AAB181270119}"/>
              </a:ext>
            </a:extLst>
          </p:cNvPr>
          <p:cNvSpPr txBox="1"/>
          <p:nvPr/>
        </p:nvSpPr>
        <p:spPr>
          <a:xfrm>
            <a:off x="3231284" y="1328850"/>
            <a:ext cx="1241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Frontend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9B2B1-121A-65EC-6E51-1C338480DBCE}"/>
              </a:ext>
            </a:extLst>
          </p:cNvPr>
          <p:cNvSpPr txBox="1"/>
          <p:nvPr/>
        </p:nvSpPr>
        <p:spPr>
          <a:xfrm>
            <a:off x="8395317" y="1377307"/>
            <a:ext cx="1294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Backtend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01608-9AA4-222B-B6F1-BD90E9FC98C2}"/>
              </a:ext>
            </a:extLst>
          </p:cNvPr>
          <p:cNvSpPr txBox="1"/>
          <p:nvPr/>
        </p:nvSpPr>
        <p:spPr>
          <a:xfrm>
            <a:off x="2998881" y="3504747"/>
            <a:ext cx="16797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Data Storage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C2489-6816-A32D-0B25-A266C57FC142}"/>
              </a:ext>
            </a:extLst>
          </p:cNvPr>
          <p:cNvSpPr txBox="1"/>
          <p:nvPr/>
        </p:nvSpPr>
        <p:spPr>
          <a:xfrm>
            <a:off x="6836079" y="1751838"/>
            <a:ext cx="484571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Runtime Environment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Conda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Programming Language: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Python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Web Framework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FastAPI</a:t>
            </a:r>
            <a:r>
              <a:rPr lang="en-US" sz="1600" i="1" dirty="0"/>
              <a:t> (for RESTful-style micro web service development.)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Geospatial data I/O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duckdb</a:t>
            </a:r>
            <a:r>
              <a:rPr lang="en-US" sz="1600" i="1" dirty="0"/>
              <a:t> with spatial extension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geopandas</a:t>
            </a:r>
            <a:r>
              <a:rPr lang="en-US" sz="1600" i="1" dirty="0"/>
              <a:t>, </a:t>
            </a:r>
            <a:r>
              <a:rPr lang="en-US" sz="1600" i="1" dirty="0" err="1"/>
              <a:t>pyarrow</a:t>
            </a:r>
            <a:endParaRPr lang="en-US" sz="1600" i="1" dirty="0"/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shapely,gdal</a:t>
            </a:r>
            <a:r>
              <a:rPr lang="en-US" sz="1600" i="1" dirty="0"/>
              <a:t>, </a:t>
            </a:r>
            <a:r>
              <a:rPr lang="en-US" sz="1600" i="1" dirty="0" err="1"/>
              <a:t>pyproj</a:t>
            </a:r>
            <a:r>
              <a:rPr lang="en-US" sz="1600" i="1" dirty="0"/>
              <a:t>,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 </a:t>
            </a:r>
            <a:r>
              <a:rPr lang="en-US" sz="1600" i="1" dirty="0" err="1"/>
              <a:t>rasterio</a:t>
            </a:r>
            <a:r>
              <a:rPr lang="en-US" sz="1600" i="1" dirty="0"/>
              <a:t>, 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dask</a:t>
            </a:r>
            <a:r>
              <a:rPr lang="en-US" sz="1600" i="1" dirty="0"/>
              <a:t>, </a:t>
            </a:r>
            <a:r>
              <a:rPr lang="en-US" sz="1600" i="1" dirty="0" err="1"/>
              <a:t>pyodbc</a:t>
            </a:r>
            <a:r>
              <a:rPr lang="en-US" sz="1600" i="1" dirty="0"/>
              <a:t>, </a:t>
            </a:r>
            <a:r>
              <a:rPr lang="en-US" sz="1600" i="1" dirty="0" err="1"/>
              <a:t>sqlalchemy</a:t>
            </a:r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Report Generation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openpyxl</a:t>
            </a:r>
            <a:r>
              <a:rPr lang="en-US" sz="1600" i="1" dirty="0"/>
              <a:t>,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xlsxwriter</a:t>
            </a:r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Web Server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uvicorn</a:t>
            </a:r>
            <a:r>
              <a:rPr lang="en-US" sz="1600" i="1" dirty="0"/>
              <a:t> (An ASGI web server for Python that can be forwarded by IIS.)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D5075F-7F75-68E4-6EFF-E1718752D0B3}"/>
              </a:ext>
            </a:extLst>
          </p:cNvPr>
          <p:cNvSpPr txBox="1"/>
          <p:nvPr/>
        </p:nvSpPr>
        <p:spPr>
          <a:xfrm>
            <a:off x="1674466" y="3824738"/>
            <a:ext cx="466944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SQL Server (Live, Read only)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Cityworks</a:t>
            </a:r>
            <a:r>
              <a:rPr lang="en-US" sz="1600" i="1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ITPipes</a:t>
            </a:r>
            <a:r>
              <a:rPr lang="en-US" sz="1600" i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Duck DB (G Drive, read-only, updated by ETL)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Risk Layers 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Risk Tables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SQLite (G Drive, read/write) 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User info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Permission info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Log info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User entered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C9DA80-43B4-2E5C-F8B7-59EF8EE1A699}"/>
              </a:ext>
            </a:extLst>
          </p:cNvPr>
          <p:cNvSpPr txBox="1"/>
          <p:nvPr/>
        </p:nvSpPr>
        <p:spPr>
          <a:xfrm>
            <a:off x="1814690" y="1676983"/>
            <a:ext cx="215174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Runtime</a:t>
            </a:r>
          </a:p>
          <a:p>
            <a:pPr marL="742950" lvl="1" indent="-285750">
              <a:buFontTx/>
              <a:buChar char="-"/>
            </a:pPr>
            <a:r>
              <a:rPr lang="en-US" sz="1600" i="1" dirty="0"/>
              <a:t>Node</a:t>
            </a:r>
            <a:r>
              <a:rPr lang="en-US" b="1" dirty="0"/>
              <a:t>.</a:t>
            </a:r>
            <a:r>
              <a:rPr lang="en-US" sz="1600" i="1" dirty="0"/>
              <a:t>js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Language</a:t>
            </a:r>
            <a:endParaRPr lang="en-US" b="1" dirty="0"/>
          </a:p>
          <a:p>
            <a:pPr marL="742950" lvl="1" indent="-285750">
              <a:buFontTx/>
              <a:buChar char="-"/>
            </a:pPr>
            <a:r>
              <a:rPr lang="en-US" sz="1600" i="1" dirty="0"/>
              <a:t>Typescript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Package</a:t>
            </a:r>
            <a:r>
              <a:rPr lang="en-US" b="1" dirty="0"/>
              <a:t> </a:t>
            </a:r>
            <a:r>
              <a:rPr lang="en-US" sz="1600" b="1" dirty="0"/>
              <a:t>Manager</a:t>
            </a:r>
            <a:r>
              <a:rPr lang="en-US" b="1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pnpm</a:t>
            </a:r>
            <a:endParaRPr lang="en-US" sz="1600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5C5DA-4F9A-F04A-7EAA-C08FC69184D4}"/>
              </a:ext>
            </a:extLst>
          </p:cNvPr>
          <p:cNvSpPr txBox="1"/>
          <p:nvPr/>
        </p:nvSpPr>
        <p:spPr>
          <a:xfrm>
            <a:off x="3870978" y="1658799"/>
            <a:ext cx="241322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Visualization</a:t>
            </a:r>
            <a:endParaRPr lang="en-US" b="1" dirty="0"/>
          </a:p>
          <a:p>
            <a:pPr marL="742950" lvl="1" indent="-285750">
              <a:buFontTx/>
              <a:buChar char="-"/>
            </a:pPr>
            <a:r>
              <a:rPr lang="en-US" sz="1600" i="1" dirty="0"/>
              <a:t>Apache</a:t>
            </a:r>
            <a:r>
              <a:rPr lang="en-US" b="1" dirty="0"/>
              <a:t> </a:t>
            </a:r>
            <a:r>
              <a:rPr lang="en-US" sz="1600" i="1" dirty="0" err="1"/>
              <a:t>ECharts</a:t>
            </a:r>
            <a:r>
              <a:rPr lang="en-US" b="1" dirty="0"/>
              <a:t> 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Map</a:t>
            </a:r>
            <a:r>
              <a:rPr lang="en-US" b="1" dirty="0"/>
              <a:t> </a:t>
            </a:r>
            <a:r>
              <a:rPr lang="en-US" sz="1600" b="1" dirty="0"/>
              <a:t>Component</a:t>
            </a:r>
            <a:endParaRPr lang="en-US" b="1" dirty="0"/>
          </a:p>
          <a:p>
            <a:pPr marL="742950" lvl="1" indent="-285750">
              <a:buFontTx/>
              <a:buChar char="-"/>
            </a:pPr>
            <a:r>
              <a:rPr lang="en-US" sz="1600" i="1" dirty="0" err="1"/>
              <a:t>Maplibre</a:t>
            </a:r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UI</a:t>
            </a:r>
            <a:r>
              <a:rPr lang="en-US" b="1" dirty="0"/>
              <a:t> </a:t>
            </a:r>
            <a:r>
              <a:rPr lang="en-US" sz="1600" b="1" dirty="0"/>
              <a:t>Framework</a:t>
            </a:r>
            <a:endParaRPr lang="en-US" b="1" dirty="0"/>
          </a:p>
          <a:p>
            <a:pPr marL="742950" lvl="1" indent="-285750">
              <a:buFontTx/>
              <a:buChar char="-"/>
            </a:pPr>
            <a:r>
              <a:rPr lang="en-US" sz="1600" i="1" dirty="0"/>
              <a:t>tailwind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458140-A480-2D15-6F08-C742A68EF17D}"/>
              </a:ext>
            </a:extLst>
          </p:cNvPr>
          <p:cNvSpPr txBox="1"/>
          <p:nvPr/>
        </p:nvSpPr>
        <p:spPr>
          <a:xfrm>
            <a:off x="2710981" y="373404"/>
            <a:ext cx="654942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System architecture and technology stack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B5DA4-F736-C8B1-BBCC-491812A7F1E8}"/>
              </a:ext>
            </a:extLst>
          </p:cNvPr>
          <p:cNvSpPr txBox="1"/>
          <p:nvPr/>
        </p:nvSpPr>
        <p:spPr>
          <a:xfrm>
            <a:off x="3441499" y="901107"/>
            <a:ext cx="4988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source, Morden, light-weight, cloud  native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3B36B2-4CF6-F527-684E-AAF2E8091F59}"/>
              </a:ext>
            </a:extLst>
          </p:cNvPr>
          <p:cNvSpPr txBox="1"/>
          <p:nvPr/>
        </p:nvSpPr>
        <p:spPr>
          <a:xfrm>
            <a:off x="90938" y="4264852"/>
            <a:ext cx="1228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be moved to SQL Server for better concurrent access support and improved data safety.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6CFF3788-E29D-C67C-98B2-344902DB4063}"/>
              </a:ext>
            </a:extLst>
          </p:cNvPr>
          <p:cNvSpPr/>
          <p:nvPr/>
        </p:nvSpPr>
        <p:spPr>
          <a:xfrm>
            <a:off x="1083733" y="4732867"/>
            <a:ext cx="590733" cy="1789508"/>
          </a:xfrm>
          <a:prstGeom prst="leftBrac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14A13674-7CA5-D299-0986-2AF92A0D480F}"/>
              </a:ext>
            </a:extLst>
          </p:cNvPr>
          <p:cNvSpPr/>
          <p:nvPr/>
        </p:nvSpPr>
        <p:spPr>
          <a:xfrm>
            <a:off x="6284203" y="2440668"/>
            <a:ext cx="675620" cy="484632"/>
          </a:xfrm>
          <a:prstGeom prst="leftRightArrow">
            <a:avLst>
              <a:gd name="adj1" fmla="val 63976"/>
              <a:gd name="adj2" fmla="val 29036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124CBB6D-E6A1-88A4-0ECA-40E27CD0EFE8}"/>
              </a:ext>
            </a:extLst>
          </p:cNvPr>
          <p:cNvSpPr/>
          <p:nvPr/>
        </p:nvSpPr>
        <p:spPr>
          <a:xfrm>
            <a:off x="6284203" y="4264852"/>
            <a:ext cx="675620" cy="484632"/>
          </a:xfrm>
          <a:prstGeom prst="leftRightArrow">
            <a:avLst>
              <a:gd name="adj1" fmla="val 63976"/>
              <a:gd name="adj2" fmla="val 29036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9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162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Zhao, Shawn</dc:creator>
  <cp:lastModifiedBy>Zhao, Shawn</cp:lastModifiedBy>
  <cp:revision>4</cp:revision>
  <dcterms:created xsi:type="dcterms:W3CDTF">2026-07-14T14:09:55Z</dcterms:created>
  <dcterms:modified xsi:type="dcterms:W3CDTF">2026-07-14T16:01:18Z</dcterms:modified>
</cp:coreProperties>
</file>